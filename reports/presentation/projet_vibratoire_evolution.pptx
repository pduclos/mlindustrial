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8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011680"/>
            <a:ext cx="5486400" cy="5486400"/>
          </a:xfrm>
          <a:prstGeom prst="ellipse">
            <a:avLst/>
          </a:prstGeom>
          <a:solidFill>
            <a:srgbClr val="26221D"/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3291840"/>
            <a:ext cx="3291840" cy="3291840"/>
          </a:xfrm>
          <a:prstGeom prst="ellipse">
            <a:avLst/>
          </a:prstGeom>
          <a:solidFill>
            <a:srgbClr val="CC785C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96596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C7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VIBRATOIRE &amp; MAINTENANCE PRÉDICTIVE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2423160"/>
            <a:ext cx="10241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EEEB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 modèle qui marche sur banc d'essai</a:t>
            </a:r>
            <a:endParaRPr lang="en-US" sz="3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EEEB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et s'effondre en atelier.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31520" y="425196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i="1" dirty="0">
                <a:solidFill>
                  <a:srgbClr val="A8A2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projet mesure cet écart au lieu de le cacher — défauts usinés (laboratoire) contre défauts nés d'un vrai vieillissement mécanique (terrain).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5349240"/>
            <a:ext cx="457200" cy="27432"/>
          </a:xfrm>
          <a:prstGeom prst="rect">
            <a:avLst/>
          </a:prstGeom>
          <a:solidFill>
            <a:srgbClr val="CC785C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55321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EEB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Patrice Duclos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58704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A2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Data / Data Analyst — Lyon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8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C7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PROBLÈME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EEB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mur entre le banc d'essai et l'atelier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074920" cy="3566160"/>
          </a:xfrm>
          <a:prstGeom prst="rect">
            <a:avLst/>
          </a:prstGeom>
          <a:solidFill>
            <a:srgbClr val="26221D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2377440"/>
            <a:ext cx="777240" cy="777240"/>
          </a:xfrm>
          <a:prstGeom prst="ellipse">
            <a:avLst/>
          </a:prstGeom>
          <a:solidFill>
            <a:srgbClr val="CC785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934" y="2486254"/>
            <a:ext cx="559613" cy="55961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3337560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EEB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Banc d'essai / laboratoire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960120" y="3840480"/>
            <a:ext cx="4251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A8A2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Défauts usinés (perçage, électroérosion) — reproductibles, contrôlés, faciles à collecter en volume.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960120" y="4846320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6BB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F1 macro ≈ 0.74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6080760" y="1965960"/>
            <a:ext cx="5074920" cy="3566160"/>
          </a:xfrm>
          <a:prstGeom prst="rect">
            <a:avLst/>
          </a:prstGeom>
          <a:solidFill>
            <a:srgbClr val="26221D"/>
          </a:solidFill>
          <a:ln/>
        </p:spPr>
      </p:sp>
      <p:sp>
        <p:nvSpPr>
          <p:cNvPr id="11" name="Shape 8"/>
          <p:cNvSpPr/>
          <p:nvPr/>
        </p:nvSpPr>
        <p:spPr>
          <a:xfrm>
            <a:off x="6492240" y="2377440"/>
            <a:ext cx="777240" cy="777240"/>
          </a:xfrm>
          <a:prstGeom prst="ellipse">
            <a:avLst/>
          </a:prstGeom>
          <a:solidFill>
            <a:srgbClr val="3D2E27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1054" y="2486254"/>
            <a:ext cx="559613" cy="55961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492240" y="3337560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EEB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Atelier réel</a:t>
            </a:r>
            <a:endParaRPr lang="en-US" sz="1900" dirty="0"/>
          </a:p>
        </p:txBody>
      </p:sp>
      <p:sp>
        <p:nvSpPr>
          <p:cNvPr id="14" name="Text 10"/>
          <p:cNvSpPr/>
          <p:nvPr/>
        </p:nvSpPr>
        <p:spPr>
          <a:xfrm>
            <a:off x="6492240" y="3840480"/>
            <a:ext cx="4251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A8A2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Défauts nés d'un vrai vieillissement mécanique — c'est le cas qui compte, et celui qu'on ne mesure presque jamais.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6492240" y="4846320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A7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Écart non mesuré = risque caché</a:t>
            </a:r>
            <a:endParaRPr lang="en-US" sz="1700" dirty="0"/>
          </a:p>
        </p:txBody>
      </p:sp>
      <p:sp>
        <p:nvSpPr>
          <p:cNvPr id="16" name="Shape 12"/>
          <p:cNvSpPr/>
          <p:nvPr/>
        </p:nvSpPr>
        <p:spPr>
          <a:xfrm>
            <a:off x="5687568" y="3584448"/>
            <a:ext cx="329184" cy="329184"/>
          </a:xfrm>
          <a:prstGeom prst="ellipse">
            <a:avLst/>
          </a:prstGeom>
          <a:solidFill>
            <a:srgbClr val="1A1815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3654" y="3630534"/>
            <a:ext cx="237012" cy="23701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48640" y="58064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EEE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plupart des démonstrations de détection de défaut s'entraînent ET se testent sur les mêmes conditions de laboratoire. Ce projet fait l'inverse : il chiffre l'écart.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2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8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C7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POSITIONNEMENT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EEB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Pourquoi ce projet est différent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349240" cy="1965960"/>
          </a:xfrm>
          <a:prstGeom prst="rect">
            <a:avLst/>
          </a:prstGeom>
          <a:solidFill>
            <a:srgbClr val="26221D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194560"/>
            <a:ext cx="566928" cy="566928"/>
          </a:xfrm>
          <a:prstGeom prst="ellipse">
            <a:avLst/>
          </a:prstGeom>
          <a:solidFill>
            <a:srgbClr val="3D2E27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8050" y="2273930"/>
            <a:ext cx="408188" cy="4081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2167128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EEEB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Features physiques, pas boîte noire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868680" y="2834640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A8A2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BPFO/BPFI/BSF/FTF, analyse d'enveloppe, kurtogramme — une raie à 46 Hz s'explique devant un chef d'atelier.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63640" y="1874520"/>
            <a:ext cx="5349240" cy="1965960"/>
          </a:xfrm>
          <a:prstGeom prst="rect">
            <a:avLst/>
          </a:prstGeom>
          <a:solidFill>
            <a:srgbClr val="26221D"/>
          </a:solidFill>
          <a:ln/>
        </p:spPr>
      </p:sp>
      <p:sp>
        <p:nvSpPr>
          <p:cNvPr id="10" name="Shape 7"/>
          <p:cNvSpPr/>
          <p:nvPr/>
        </p:nvSpPr>
        <p:spPr>
          <a:xfrm>
            <a:off x="6583680" y="2194560"/>
            <a:ext cx="566928" cy="566928"/>
          </a:xfrm>
          <a:prstGeom prst="ellipse">
            <a:avLst/>
          </a:prstGeom>
          <a:solidFill>
            <a:srgbClr val="3D2E27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3050" y="2273930"/>
            <a:ext cx="408188" cy="40818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15200" y="2167128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EEEB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coût du capteur compte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6583680" y="2834640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A8A2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Vibration (accéléromètre) vs courant moteur, déjà présent sur tout variateur — zéro capteur à installer si le courant suffit.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4160520"/>
            <a:ext cx="5349240" cy="1965960"/>
          </a:xfrm>
          <a:prstGeom prst="rect">
            <a:avLst/>
          </a:prstGeom>
          <a:solidFill>
            <a:srgbClr val="26221D"/>
          </a:solidFill>
          <a:ln/>
        </p:spPr>
      </p:sp>
      <p:sp>
        <p:nvSpPr>
          <p:cNvPr id="15" name="Shape 11"/>
          <p:cNvSpPr/>
          <p:nvPr/>
        </p:nvSpPr>
        <p:spPr>
          <a:xfrm>
            <a:off x="868680" y="4480560"/>
            <a:ext cx="566928" cy="566928"/>
          </a:xfrm>
          <a:prstGeom prst="ellipse">
            <a:avLst/>
          </a:prstGeom>
          <a:solidFill>
            <a:srgbClr val="3D2E27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050" y="4559930"/>
            <a:ext cx="408188" cy="40818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00200" y="4453128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EEEB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généralisation est le résultat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868680" y="5120640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A8A2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"quel F1 sur ce dataset" mais "qu'est-ce qui casse quand le contexte change", écart chiffré.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263640" y="4160520"/>
            <a:ext cx="5349240" cy="1965960"/>
          </a:xfrm>
          <a:prstGeom prst="rect">
            <a:avLst/>
          </a:prstGeom>
          <a:solidFill>
            <a:srgbClr val="26221D"/>
          </a:solidFill>
          <a:ln/>
        </p:spPr>
      </p:sp>
      <p:sp>
        <p:nvSpPr>
          <p:cNvPr id="20" name="Shape 15"/>
          <p:cNvSpPr/>
          <p:nvPr/>
        </p:nvSpPr>
        <p:spPr>
          <a:xfrm>
            <a:off x="6583680" y="4480560"/>
            <a:ext cx="566928" cy="566928"/>
          </a:xfrm>
          <a:prstGeom prst="ellipse">
            <a:avLst/>
          </a:prstGeom>
          <a:solidFill>
            <a:srgbClr val="3D2E27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3050" y="4559930"/>
            <a:ext cx="408188" cy="40818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15200" y="4453128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EEEB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Rigueur avant tout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6583680" y="5120640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A8A2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par entité physique, baseline obligatoire, discipline "0 mock" — aucune valeur non sourcée.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548640" y="61722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C7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 ans en distribution industrielle B2B, dont le déploiement terrain de solutions IoT de maintenance prédictive avec IFM, Schaeffler et SKF.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2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8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C7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MÉTHODOLOGIE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EEB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discipline qui protège les résultats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1064240" cy="960120"/>
          </a:xfrm>
          <a:prstGeom prst="rect">
            <a:avLst/>
          </a:prstGeom>
          <a:solidFill>
            <a:srgbClr val="26221D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920240"/>
            <a:ext cx="64008" cy="960120"/>
          </a:xfrm>
          <a:prstGeom prst="rect">
            <a:avLst/>
          </a:prstGeom>
          <a:solidFill>
            <a:srgbClr val="CC785C"/>
          </a:solidFill>
          <a:ln/>
        </p:spPr>
      </p:sp>
      <p:sp>
        <p:nvSpPr>
          <p:cNvPr id="6" name="Shape 4"/>
          <p:cNvSpPr/>
          <p:nvPr/>
        </p:nvSpPr>
        <p:spPr>
          <a:xfrm>
            <a:off x="960120" y="2125980"/>
            <a:ext cx="548640" cy="548640"/>
          </a:xfrm>
          <a:prstGeom prst="ellipse">
            <a:avLst/>
          </a:prstGeom>
          <a:solidFill>
            <a:srgbClr val="3D2E27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930" y="2202790"/>
            <a:ext cx="395021" cy="39502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83080" y="2029968"/>
            <a:ext cx="338328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EEB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Split par entité physique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303520" y="2029968"/>
            <a:ext cx="603504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8A2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Jamais par fenêtre de signal — sinon la même bague fuite entre train et test, accuracy trompeuse.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48640" y="3044952"/>
            <a:ext cx="11064240" cy="960120"/>
          </a:xfrm>
          <a:prstGeom prst="rect">
            <a:avLst/>
          </a:prstGeom>
          <a:solidFill>
            <a:srgbClr val="26221D"/>
          </a:solidFill>
          <a:ln/>
        </p:spPr>
      </p:sp>
      <p:sp>
        <p:nvSpPr>
          <p:cNvPr id="11" name="Shape 8"/>
          <p:cNvSpPr/>
          <p:nvPr/>
        </p:nvSpPr>
        <p:spPr>
          <a:xfrm>
            <a:off x="548640" y="3044952"/>
            <a:ext cx="64008" cy="960120"/>
          </a:xfrm>
          <a:prstGeom prst="rect">
            <a:avLst/>
          </a:prstGeom>
          <a:solidFill>
            <a:srgbClr val="CC785C"/>
          </a:solidFill>
          <a:ln/>
        </p:spPr>
      </p:sp>
      <p:sp>
        <p:nvSpPr>
          <p:cNvPr id="12" name="Shape 9"/>
          <p:cNvSpPr/>
          <p:nvPr/>
        </p:nvSpPr>
        <p:spPr>
          <a:xfrm>
            <a:off x="960120" y="3250692"/>
            <a:ext cx="548640" cy="548640"/>
          </a:xfrm>
          <a:prstGeom prst="ellipse">
            <a:avLst/>
          </a:prstGeom>
          <a:solidFill>
            <a:srgbClr val="3D2E27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930" y="3327502"/>
            <a:ext cx="395021" cy="39502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783080" y="3154680"/>
            <a:ext cx="338328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EEB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Évaluation cross-condition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5303520" y="3154680"/>
            <a:ext cx="603504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8A2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modèle qui apprend la charge plutôt que le défaut s'effondre ici — testé exprès.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548640" y="4169664"/>
            <a:ext cx="11064240" cy="960120"/>
          </a:xfrm>
          <a:prstGeom prst="rect">
            <a:avLst/>
          </a:prstGeom>
          <a:solidFill>
            <a:srgbClr val="26221D"/>
          </a:solidFill>
          <a:ln/>
        </p:spPr>
      </p:sp>
      <p:sp>
        <p:nvSpPr>
          <p:cNvPr id="17" name="Shape 13"/>
          <p:cNvSpPr/>
          <p:nvPr/>
        </p:nvSpPr>
        <p:spPr>
          <a:xfrm>
            <a:off x="548640" y="4169664"/>
            <a:ext cx="64008" cy="960120"/>
          </a:xfrm>
          <a:prstGeom prst="rect">
            <a:avLst/>
          </a:prstGeom>
          <a:solidFill>
            <a:srgbClr val="CC785C"/>
          </a:solidFill>
          <a:ln/>
        </p:spPr>
      </p:sp>
      <p:sp>
        <p:nvSpPr>
          <p:cNvPr id="18" name="Shape 14"/>
          <p:cNvSpPr/>
          <p:nvPr/>
        </p:nvSpPr>
        <p:spPr>
          <a:xfrm>
            <a:off x="960120" y="4375404"/>
            <a:ext cx="548640" cy="548640"/>
          </a:xfrm>
          <a:prstGeom prst="ellipse">
            <a:avLst/>
          </a:prstGeom>
          <a:solidFill>
            <a:srgbClr val="3D2E27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930" y="4452214"/>
            <a:ext cx="395021" cy="395021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783080" y="4279392"/>
            <a:ext cx="338328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EEB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Baseline obligatoire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5303520" y="4279392"/>
            <a:ext cx="603504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8A2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seuil simple, sa matrice de confusion. Si un modèle complexe ne le bat pas franchement, c'est ça qu'on publie.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548640" y="5294376"/>
            <a:ext cx="11064240" cy="960120"/>
          </a:xfrm>
          <a:prstGeom prst="rect">
            <a:avLst/>
          </a:prstGeom>
          <a:solidFill>
            <a:srgbClr val="26221D"/>
          </a:solidFill>
          <a:ln/>
        </p:spPr>
      </p:sp>
      <p:sp>
        <p:nvSpPr>
          <p:cNvPr id="23" name="Shape 18"/>
          <p:cNvSpPr/>
          <p:nvPr/>
        </p:nvSpPr>
        <p:spPr>
          <a:xfrm>
            <a:off x="548640" y="5294376"/>
            <a:ext cx="64008" cy="960120"/>
          </a:xfrm>
          <a:prstGeom prst="rect">
            <a:avLst/>
          </a:prstGeom>
          <a:solidFill>
            <a:srgbClr val="CC785C"/>
          </a:solidFill>
          <a:ln/>
        </p:spPr>
      </p:sp>
      <p:sp>
        <p:nvSpPr>
          <p:cNvPr id="24" name="Shape 19"/>
          <p:cNvSpPr/>
          <p:nvPr/>
        </p:nvSpPr>
        <p:spPr>
          <a:xfrm>
            <a:off x="960120" y="5500116"/>
            <a:ext cx="548640" cy="548640"/>
          </a:xfrm>
          <a:prstGeom prst="ellipse">
            <a:avLst/>
          </a:prstGeom>
          <a:solidFill>
            <a:srgbClr val="3D2E27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930" y="5576926"/>
            <a:ext cx="395021" cy="395021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783080" y="5404104"/>
            <a:ext cx="338328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EEB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F1 macro, pas accuracy</a:t>
            </a:r>
            <a:endParaRPr lang="en-US" sz="1500" dirty="0"/>
          </a:p>
        </p:txBody>
      </p:sp>
      <p:sp>
        <p:nvSpPr>
          <p:cNvPr id="27" name="Text 21"/>
          <p:cNvSpPr/>
          <p:nvPr/>
        </p:nvSpPr>
        <p:spPr>
          <a:xfrm>
            <a:off x="5303520" y="5404104"/>
            <a:ext cx="603504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8A2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Déséquilibre de classes systématique sur les données de dégradation progressive.</a:t>
            </a:r>
            <a:endParaRPr lang="en-US" sz="1250" dirty="0"/>
          </a:p>
        </p:txBody>
      </p:sp>
      <p:sp>
        <p:nvSpPr>
          <p:cNvPr id="28" name="Text 22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2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8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C7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EEB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Où le projet est allé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188720" y="3246120"/>
            <a:ext cx="9784080" cy="0"/>
          </a:xfrm>
          <a:prstGeom prst="line">
            <a:avLst/>
          </a:prstGeom>
          <a:noFill/>
          <a:ln w="38100">
            <a:solidFill>
              <a:srgbClr val="312B2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5820" y="2903220"/>
            <a:ext cx="685800" cy="685800"/>
          </a:xfrm>
          <a:prstGeom prst="ellipse">
            <a:avLst/>
          </a:prstGeom>
          <a:solidFill>
            <a:srgbClr val="66BB6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2999232"/>
            <a:ext cx="493776" cy="4937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" y="374904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EEEB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Socle de données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14300" y="438912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8A2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Paderborn ingéré, géométrie vérifiée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114300" y="201168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291840" y="2903220"/>
            <a:ext cx="685800" cy="685800"/>
          </a:xfrm>
          <a:prstGeom prst="ellipse">
            <a:avLst/>
          </a:prstGeom>
          <a:solidFill>
            <a:srgbClr val="66BB6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7852" y="2999232"/>
            <a:ext cx="493776" cy="49377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560320" y="374904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EEEB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Features &amp; baseline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2560320" y="438912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8A2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Indicateurs temporels, GBM, MLflow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2560320" y="201168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5737860" y="2903220"/>
            <a:ext cx="685800" cy="685800"/>
          </a:xfrm>
          <a:prstGeom prst="ellipse">
            <a:avLst/>
          </a:prstGeom>
          <a:solidFill>
            <a:srgbClr val="CC785C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3872" y="2999232"/>
            <a:ext cx="493776" cy="49377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006340" y="374904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EEEB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vrai test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5006340" y="438912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8A2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Généralisation artificiel → réel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5006340" y="201168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CC7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COURS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8183880" y="2903220"/>
            <a:ext cx="685800" cy="685800"/>
          </a:xfrm>
          <a:prstGeom prst="ellipse">
            <a:avLst/>
          </a:prstGeom>
          <a:solidFill>
            <a:srgbClr val="312B24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9892" y="2999232"/>
            <a:ext cx="493776" cy="49377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52360" y="374904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EEEB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Extension simulation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7452360" y="438912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8A2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 Twin labellisé</a:t>
            </a:r>
            <a:endParaRPr lang="en-US" sz="1050" dirty="0"/>
          </a:p>
        </p:txBody>
      </p:sp>
      <p:sp>
        <p:nvSpPr>
          <p:cNvPr id="24" name="Text 18"/>
          <p:cNvSpPr/>
          <p:nvPr/>
        </p:nvSpPr>
        <p:spPr>
          <a:xfrm>
            <a:off x="7452360" y="201168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A8A2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ENGAGÉ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10629900" y="2903220"/>
            <a:ext cx="685800" cy="685800"/>
          </a:xfrm>
          <a:prstGeom prst="ellipse">
            <a:avLst/>
          </a:prstGeom>
          <a:solidFill>
            <a:srgbClr val="312B24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25912" y="2999232"/>
            <a:ext cx="493776" cy="49377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898380" y="374904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EEEB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Dashboard &amp; outils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9898380" y="438912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8A2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onglets, alertes, correction</a:t>
            </a:r>
            <a:endParaRPr lang="en-US" sz="1050" dirty="0"/>
          </a:p>
        </p:txBody>
      </p:sp>
      <p:sp>
        <p:nvSpPr>
          <p:cNvPr id="29" name="Text 22"/>
          <p:cNvSpPr/>
          <p:nvPr/>
        </p:nvSpPr>
        <p:spPr>
          <a:xfrm>
            <a:off x="9898380" y="201168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A8A2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ENGAGÉ</a:t>
            </a:r>
            <a:endParaRPr lang="en-US" sz="1000" dirty="0"/>
          </a:p>
        </p:txBody>
      </p:sp>
      <p:sp>
        <p:nvSpPr>
          <p:cNvPr id="30" name="Text 23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2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8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C7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— PHASE 2, INTRA-CONDITION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EEB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 chiffres publiés à ce jour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520440" cy="2286000"/>
          </a:xfrm>
          <a:prstGeom prst="rect">
            <a:avLst/>
          </a:prstGeom>
          <a:solidFill>
            <a:srgbClr val="26221D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24028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A8A2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MACRO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68680" y="2468880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A8A2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0.682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868680" y="333756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A2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 0.158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68680" y="3749040"/>
            <a:ext cx="2880360" cy="18288"/>
          </a:xfrm>
          <a:prstGeom prst="rect">
            <a:avLst/>
          </a:prstGeom>
          <a:solidFill>
            <a:srgbClr val="312B24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384048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EE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seuil (kurtosis)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89120" y="1965960"/>
            <a:ext cx="3520440" cy="2286000"/>
          </a:xfrm>
          <a:prstGeom prst="rect">
            <a:avLst/>
          </a:prstGeom>
          <a:solidFill>
            <a:srgbClr val="26221D"/>
          </a:solidFill>
          <a:ln/>
        </p:spPr>
      </p:sp>
      <p:sp>
        <p:nvSpPr>
          <p:cNvPr id="11" name="Text 9"/>
          <p:cNvSpPr/>
          <p:nvPr/>
        </p:nvSpPr>
        <p:spPr>
          <a:xfrm>
            <a:off x="4709160" y="224028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A8A2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MACRO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709160" y="2468880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66BB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0.738</a:t>
            </a:r>
            <a:endParaRPr lang="en-US" sz="4600" dirty="0"/>
          </a:p>
        </p:txBody>
      </p:sp>
      <p:sp>
        <p:nvSpPr>
          <p:cNvPr id="13" name="Text 11"/>
          <p:cNvSpPr/>
          <p:nvPr/>
        </p:nvSpPr>
        <p:spPr>
          <a:xfrm>
            <a:off x="4709160" y="333756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A2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 0.208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709160" y="3749040"/>
            <a:ext cx="2880360" cy="18288"/>
          </a:xfrm>
          <a:prstGeom prst="rect">
            <a:avLst/>
          </a:prstGeom>
          <a:solidFill>
            <a:srgbClr val="312B24"/>
          </a:solidFill>
          <a:ln/>
        </p:spPr>
      </p:sp>
      <p:sp>
        <p:nvSpPr>
          <p:cNvPr id="15" name="Text 13"/>
          <p:cNvSpPr/>
          <p:nvPr/>
        </p:nvSpPr>
        <p:spPr>
          <a:xfrm>
            <a:off x="4709160" y="384048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EE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(vibration seule)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229600" y="1965960"/>
            <a:ext cx="3520440" cy="2286000"/>
          </a:xfrm>
          <a:prstGeom prst="rect">
            <a:avLst/>
          </a:prstGeom>
          <a:solidFill>
            <a:srgbClr val="26221D"/>
          </a:solidFill>
          <a:ln/>
        </p:spPr>
      </p:sp>
      <p:sp>
        <p:nvSpPr>
          <p:cNvPr id="17" name="Text 15"/>
          <p:cNvSpPr/>
          <p:nvPr/>
        </p:nvSpPr>
        <p:spPr>
          <a:xfrm>
            <a:off x="8549640" y="224028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A8A2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MACRO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549640" y="2496312"/>
            <a:ext cx="594360" cy="594360"/>
          </a:xfrm>
          <a:prstGeom prst="ellipse">
            <a:avLst/>
          </a:prstGeom>
          <a:solidFill>
            <a:srgbClr val="3D2E27"/>
          </a:solidFill>
          <a:ln/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32850" y="2579522"/>
            <a:ext cx="427939" cy="427939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9281160" y="251460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A7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Chevauchement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8549640" y="333756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A2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intervalles se recouvrent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8549640" y="3749040"/>
            <a:ext cx="2880360" cy="18288"/>
          </a:xfrm>
          <a:prstGeom prst="rect">
            <a:avLst/>
          </a:prstGeom>
          <a:solidFill>
            <a:srgbClr val="312B24"/>
          </a:solidFill>
          <a:ln/>
        </p:spPr>
      </p:sp>
      <p:sp>
        <p:nvSpPr>
          <p:cNvPr id="23" name="Text 20"/>
          <p:cNvSpPr/>
          <p:nvPr/>
        </p:nvSpPr>
        <p:spPr>
          <a:xfrm>
            <a:off x="8549640" y="384048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EE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Vibration vs courant vs fusion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548640" y="4617720"/>
            <a:ext cx="11064240" cy="1188720"/>
          </a:xfrm>
          <a:prstGeom prst="rect">
            <a:avLst/>
          </a:prstGeom>
          <a:solidFill>
            <a:srgbClr val="2A2118"/>
          </a:solidFill>
          <a:ln/>
        </p:spPr>
      </p:sp>
      <p:sp>
        <p:nvSpPr>
          <p:cNvPr id="25" name="Shape 22"/>
          <p:cNvSpPr/>
          <p:nvPr/>
        </p:nvSpPr>
        <p:spPr>
          <a:xfrm>
            <a:off x="548640" y="4617720"/>
            <a:ext cx="64008" cy="1188720"/>
          </a:xfrm>
          <a:prstGeom prst="rect">
            <a:avLst/>
          </a:prstGeom>
          <a:solidFill>
            <a:srgbClr val="FFA726"/>
          </a:solidFill>
          <a:ln/>
        </p:spPr>
      </p:sp>
      <p:sp>
        <p:nvSpPr>
          <p:cNvPr id="26" name="Text 23"/>
          <p:cNvSpPr/>
          <p:nvPr/>
        </p:nvSpPr>
        <p:spPr>
          <a:xfrm>
            <a:off x="914400" y="47731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A7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Lecture honnête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914400" y="5102352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A8A2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écarts-types sont volontairement affichés à côté des moyennes : avec 32 roulements, un chiffre seul sans intervalle serait trompeur. Pas de conclusion tranchée sur l'argument coût capteur à ce stade.</a:t>
            </a:r>
            <a:endParaRPr lang="en-US" sz="1250" dirty="0"/>
          </a:p>
        </p:txBody>
      </p:sp>
      <p:sp>
        <p:nvSpPr>
          <p:cNvPr id="28" name="Text 25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2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8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C7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RIGUEUR, EN PRATIQUE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EEB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 qui a été trouvé en creusant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520440" cy="3977640"/>
          </a:xfrm>
          <a:prstGeom prst="rect">
            <a:avLst/>
          </a:prstGeom>
          <a:solidFill>
            <a:srgbClr val="26221D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286000"/>
            <a:ext cx="640080" cy="640080"/>
          </a:xfrm>
          <a:prstGeom prst="ellipse">
            <a:avLst/>
          </a:prstGeom>
          <a:solidFill>
            <a:srgbClr val="3D2E27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8291" y="2375611"/>
            <a:ext cx="460858" cy="46085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310896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650" b="1" dirty="0">
                <a:solidFill>
                  <a:srgbClr val="EEEB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Géométrie corrigée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868680" y="3886200"/>
            <a:ext cx="2880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A8A2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n_balls=9 (littérature générique) était faux. PDF constructeur officiel Paderborn : 8 billes. Toutes les fréquences BPFO/BPFI/BSF/FTF recalculées.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43400" y="1920240"/>
            <a:ext cx="3520440" cy="3977640"/>
          </a:xfrm>
          <a:prstGeom prst="rect">
            <a:avLst/>
          </a:prstGeom>
          <a:solidFill>
            <a:srgbClr val="26221D"/>
          </a:solidFill>
          <a:ln/>
        </p:spPr>
      </p:sp>
      <p:sp>
        <p:nvSpPr>
          <p:cNvPr id="10" name="Shape 7"/>
          <p:cNvSpPr/>
          <p:nvPr/>
        </p:nvSpPr>
        <p:spPr>
          <a:xfrm>
            <a:off x="4663440" y="2286000"/>
            <a:ext cx="640080" cy="640080"/>
          </a:xfrm>
          <a:prstGeom prst="ellipse">
            <a:avLst/>
          </a:prstGeom>
          <a:solidFill>
            <a:srgbClr val="3D2E27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3051" y="2375611"/>
            <a:ext cx="460858" cy="46085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63440" y="310896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650" b="1" dirty="0">
                <a:solidFill>
                  <a:srgbClr val="EEEB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Confusion date/asset découverte</a:t>
            </a:r>
            <a:endParaRPr lang="en-US" sz="1650" dirty="0"/>
          </a:p>
        </p:txBody>
      </p:sp>
      <p:sp>
        <p:nvSpPr>
          <p:cNvPr id="13" name="Text 9"/>
          <p:cNvSpPr/>
          <p:nvPr/>
        </p:nvSpPr>
        <p:spPr>
          <a:xfrm>
            <a:off x="4663440" y="3886200"/>
            <a:ext cx="2880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A8A2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roulement testé sur UN SEUL jour calendaire — asset_id, date d'essai et origine du défaut largement confondus. Documenté, pas caché.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138160" y="1920240"/>
            <a:ext cx="3520440" cy="3977640"/>
          </a:xfrm>
          <a:prstGeom prst="rect">
            <a:avLst/>
          </a:prstGeom>
          <a:solidFill>
            <a:srgbClr val="26221D"/>
          </a:solidFill>
          <a:ln/>
        </p:spPr>
      </p:sp>
      <p:sp>
        <p:nvSpPr>
          <p:cNvPr id="15" name="Shape 11"/>
          <p:cNvSpPr/>
          <p:nvPr/>
        </p:nvSpPr>
        <p:spPr>
          <a:xfrm>
            <a:off x="8458200" y="2286000"/>
            <a:ext cx="640080" cy="640080"/>
          </a:xfrm>
          <a:prstGeom prst="ellipse">
            <a:avLst/>
          </a:prstGeom>
          <a:solidFill>
            <a:srgbClr val="3D2E27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7811" y="2375611"/>
            <a:ext cx="460858" cy="46085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58200" y="310896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650" b="1" dirty="0">
                <a:solidFill>
                  <a:srgbClr val="EEEB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Anomalie kurtosis assumée</a:t>
            </a:r>
            <a:endParaRPr lang="en-US" sz="1650" dirty="0"/>
          </a:p>
        </p:txBody>
      </p:sp>
      <p:sp>
        <p:nvSpPr>
          <p:cNvPr id="18" name="Text 13"/>
          <p:cNvSpPr/>
          <p:nvPr/>
        </p:nvSpPr>
        <p:spPr>
          <a:xfrm>
            <a:off x="8458200" y="3886200"/>
            <a:ext cx="2880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A8A2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Kurtosis brute inversement corrélée à la sévérité du défaut sur ce dataset (sain &gt; artificiel &gt; réel) — un résultat honnête, pas maquillé.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548640" y="61722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C7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Chercher la fuite avant de rapporter un résultat qui paraît trop beau — la règle qui structure tout le reste.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2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8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C7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OUTIL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EEB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 dashboard pour voir, pas juste calculer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03708" y="1965960"/>
            <a:ext cx="1783080" cy="1691640"/>
          </a:xfrm>
          <a:prstGeom prst="rect">
            <a:avLst/>
          </a:prstGeom>
          <a:solidFill>
            <a:srgbClr val="26221D"/>
          </a:solidFill>
          <a:ln/>
        </p:spPr>
      </p:sp>
      <p:sp>
        <p:nvSpPr>
          <p:cNvPr id="5" name="Shape 3"/>
          <p:cNvSpPr/>
          <p:nvPr/>
        </p:nvSpPr>
        <p:spPr>
          <a:xfrm>
            <a:off x="1002640" y="2221992"/>
            <a:ext cx="585216" cy="585216"/>
          </a:xfrm>
          <a:prstGeom prst="ellipse">
            <a:avLst/>
          </a:prstGeom>
          <a:solidFill>
            <a:srgbClr val="3D2E27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4570" y="2303922"/>
            <a:ext cx="421356" cy="4213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76860" y="2953512"/>
            <a:ext cx="16367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EEE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 usine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2323948" y="1965960"/>
            <a:ext cx="1783080" cy="1691640"/>
          </a:xfrm>
          <a:prstGeom prst="rect">
            <a:avLst/>
          </a:prstGeom>
          <a:solidFill>
            <a:srgbClr val="26221D"/>
          </a:solidFill>
          <a:ln/>
        </p:spPr>
      </p:sp>
      <p:sp>
        <p:nvSpPr>
          <p:cNvPr id="9" name="Shape 6"/>
          <p:cNvSpPr/>
          <p:nvPr/>
        </p:nvSpPr>
        <p:spPr>
          <a:xfrm>
            <a:off x="2922880" y="2221992"/>
            <a:ext cx="585216" cy="585216"/>
          </a:xfrm>
          <a:prstGeom prst="ellipse">
            <a:avLst/>
          </a:prstGeom>
          <a:solidFill>
            <a:srgbClr val="3D2E27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4810" y="2303922"/>
            <a:ext cx="421356" cy="42135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397100" y="2953512"/>
            <a:ext cx="16367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EEE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Équipements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4244188" y="1965960"/>
            <a:ext cx="1783080" cy="1691640"/>
          </a:xfrm>
          <a:prstGeom prst="rect">
            <a:avLst/>
          </a:prstGeom>
          <a:solidFill>
            <a:srgbClr val="26221D"/>
          </a:solidFill>
          <a:ln/>
        </p:spPr>
      </p:sp>
      <p:sp>
        <p:nvSpPr>
          <p:cNvPr id="13" name="Shape 9"/>
          <p:cNvSpPr/>
          <p:nvPr/>
        </p:nvSpPr>
        <p:spPr>
          <a:xfrm>
            <a:off x="4843120" y="2221992"/>
            <a:ext cx="585216" cy="585216"/>
          </a:xfrm>
          <a:prstGeom prst="ellipse">
            <a:avLst/>
          </a:prstGeom>
          <a:solidFill>
            <a:srgbClr val="3D2E27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5050" y="2303922"/>
            <a:ext cx="421356" cy="42135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317340" y="2953512"/>
            <a:ext cx="16367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EEE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Indicateurs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6164428" y="1965960"/>
            <a:ext cx="1783080" cy="1691640"/>
          </a:xfrm>
          <a:prstGeom prst="rect">
            <a:avLst/>
          </a:prstGeom>
          <a:solidFill>
            <a:srgbClr val="26221D"/>
          </a:solidFill>
          <a:ln/>
        </p:spPr>
      </p:sp>
      <p:sp>
        <p:nvSpPr>
          <p:cNvPr id="17" name="Shape 12"/>
          <p:cNvSpPr/>
          <p:nvPr/>
        </p:nvSpPr>
        <p:spPr>
          <a:xfrm>
            <a:off x="6763360" y="2221992"/>
            <a:ext cx="585216" cy="585216"/>
          </a:xfrm>
          <a:prstGeom prst="ellipse">
            <a:avLst/>
          </a:prstGeom>
          <a:solidFill>
            <a:srgbClr val="3D2E27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5290" y="2303922"/>
            <a:ext cx="421356" cy="42135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237580" y="2953512"/>
            <a:ext cx="16367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EEE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Vitesse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8084668" y="1965960"/>
            <a:ext cx="1783080" cy="1691640"/>
          </a:xfrm>
          <a:prstGeom prst="rect">
            <a:avLst/>
          </a:prstGeom>
          <a:solidFill>
            <a:srgbClr val="26221D"/>
          </a:solidFill>
          <a:ln/>
        </p:spPr>
      </p:sp>
      <p:sp>
        <p:nvSpPr>
          <p:cNvPr id="21" name="Shape 15"/>
          <p:cNvSpPr/>
          <p:nvPr/>
        </p:nvSpPr>
        <p:spPr>
          <a:xfrm>
            <a:off x="8683600" y="2221992"/>
            <a:ext cx="585216" cy="585216"/>
          </a:xfrm>
          <a:prstGeom prst="ellipse">
            <a:avLst/>
          </a:prstGeom>
          <a:solidFill>
            <a:srgbClr val="3D2E27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65530" y="2303922"/>
            <a:ext cx="421356" cy="421356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8157820" y="2953512"/>
            <a:ext cx="16367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EEE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Historique</a:t>
            </a:r>
            <a:endParaRPr lang="en-US" sz="1050" dirty="0"/>
          </a:p>
        </p:txBody>
      </p:sp>
      <p:sp>
        <p:nvSpPr>
          <p:cNvPr id="24" name="Shape 17"/>
          <p:cNvSpPr/>
          <p:nvPr/>
        </p:nvSpPr>
        <p:spPr>
          <a:xfrm>
            <a:off x="10004908" y="1965960"/>
            <a:ext cx="1783080" cy="1691640"/>
          </a:xfrm>
          <a:prstGeom prst="rect">
            <a:avLst/>
          </a:prstGeom>
          <a:solidFill>
            <a:srgbClr val="26221D"/>
          </a:solidFill>
          <a:ln/>
        </p:spPr>
      </p:sp>
      <p:sp>
        <p:nvSpPr>
          <p:cNvPr id="25" name="Shape 18"/>
          <p:cNvSpPr/>
          <p:nvPr/>
        </p:nvSpPr>
        <p:spPr>
          <a:xfrm>
            <a:off x="10603840" y="2221992"/>
            <a:ext cx="585216" cy="585216"/>
          </a:xfrm>
          <a:prstGeom prst="ellipse">
            <a:avLst/>
          </a:prstGeom>
          <a:solidFill>
            <a:srgbClr val="3D2E27"/>
          </a:solidFill>
          <a:ln/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85770" y="2303922"/>
            <a:ext cx="421356" cy="421356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10078060" y="2953512"/>
            <a:ext cx="16367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EEE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Alertes</a:t>
            </a:r>
            <a:endParaRPr lang="en-US" sz="1050" dirty="0"/>
          </a:p>
        </p:txBody>
      </p:sp>
      <p:sp>
        <p:nvSpPr>
          <p:cNvPr id="28" name="Shape 20"/>
          <p:cNvSpPr/>
          <p:nvPr/>
        </p:nvSpPr>
        <p:spPr>
          <a:xfrm>
            <a:off x="1363828" y="3931920"/>
            <a:ext cx="1783080" cy="1691640"/>
          </a:xfrm>
          <a:prstGeom prst="rect">
            <a:avLst/>
          </a:prstGeom>
          <a:solidFill>
            <a:srgbClr val="26221D"/>
          </a:solidFill>
          <a:ln/>
        </p:spPr>
      </p:sp>
      <p:sp>
        <p:nvSpPr>
          <p:cNvPr id="29" name="Shape 21"/>
          <p:cNvSpPr/>
          <p:nvPr/>
        </p:nvSpPr>
        <p:spPr>
          <a:xfrm>
            <a:off x="1962760" y="4187952"/>
            <a:ext cx="585216" cy="585216"/>
          </a:xfrm>
          <a:prstGeom prst="ellipse">
            <a:avLst/>
          </a:prstGeom>
          <a:solidFill>
            <a:srgbClr val="3D2E27"/>
          </a:solidFill>
          <a:ln/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44690" y="4269882"/>
            <a:ext cx="421356" cy="421356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1436980" y="4919472"/>
            <a:ext cx="16367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EEE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 maintenance</a:t>
            </a:r>
            <a:endParaRPr lang="en-US" sz="1050" dirty="0"/>
          </a:p>
        </p:txBody>
      </p:sp>
      <p:sp>
        <p:nvSpPr>
          <p:cNvPr id="32" name="Shape 23"/>
          <p:cNvSpPr/>
          <p:nvPr/>
        </p:nvSpPr>
        <p:spPr>
          <a:xfrm>
            <a:off x="3284068" y="3931920"/>
            <a:ext cx="1783080" cy="1691640"/>
          </a:xfrm>
          <a:prstGeom prst="rect">
            <a:avLst/>
          </a:prstGeom>
          <a:solidFill>
            <a:srgbClr val="26221D"/>
          </a:solidFill>
          <a:ln/>
        </p:spPr>
      </p:sp>
      <p:sp>
        <p:nvSpPr>
          <p:cNvPr id="33" name="Shape 24"/>
          <p:cNvSpPr/>
          <p:nvPr/>
        </p:nvSpPr>
        <p:spPr>
          <a:xfrm>
            <a:off x="3883000" y="4187952"/>
            <a:ext cx="585216" cy="585216"/>
          </a:xfrm>
          <a:prstGeom prst="ellipse">
            <a:avLst/>
          </a:prstGeom>
          <a:solidFill>
            <a:srgbClr val="3D2E27"/>
          </a:solidFill>
          <a:ln/>
        </p:spPr>
      </p:sp>
      <p:pic>
        <p:nvPicPr>
          <p:cNvPr id="3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64930" y="4269882"/>
            <a:ext cx="421356" cy="421356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3357220" y="4919472"/>
            <a:ext cx="16367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EEE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modèles</a:t>
            </a:r>
            <a:endParaRPr lang="en-US" sz="1050" dirty="0"/>
          </a:p>
        </p:txBody>
      </p:sp>
      <p:sp>
        <p:nvSpPr>
          <p:cNvPr id="36" name="Shape 26"/>
          <p:cNvSpPr/>
          <p:nvPr/>
        </p:nvSpPr>
        <p:spPr>
          <a:xfrm>
            <a:off x="5204308" y="3931920"/>
            <a:ext cx="1783080" cy="1691640"/>
          </a:xfrm>
          <a:prstGeom prst="rect">
            <a:avLst/>
          </a:prstGeom>
          <a:solidFill>
            <a:srgbClr val="26221D"/>
          </a:solidFill>
          <a:ln/>
        </p:spPr>
      </p:sp>
      <p:sp>
        <p:nvSpPr>
          <p:cNvPr id="37" name="Shape 27"/>
          <p:cNvSpPr/>
          <p:nvPr/>
        </p:nvSpPr>
        <p:spPr>
          <a:xfrm>
            <a:off x="5803240" y="4187952"/>
            <a:ext cx="585216" cy="585216"/>
          </a:xfrm>
          <a:prstGeom prst="ellipse">
            <a:avLst/>
          </a:prstGeom>
          <a:solidFill>
            <a:srgbClr val="3D2E27"/>
          </a:solidFill>
          <a:ln/>
        </p:spPr>
      </p:sp>
      <p:pic>
        <p:nvPicPr>
          <p:cNvPr id="3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85170" y="4269882"/>
            <a:ext cx="421356" cy="421356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5277460" y="4919472"/>
            <a:ext cx="16367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EEE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Comprendre</a:t>
            </a:r>
            <a:endParaRPr lang="en-US" sz="1050" dirty="0"/>
          </a:p>
        </p:txBody>
      </p:sp>
      <p:sp>
        <p:nvSpPr>
          <p:cNvPr id="40" name="Shape 29"/>
          <p:cNvSpPr/>
          <p:nvPr/>
        </p:nvSpPr>
        <p:spPr>
          <a:xfrm>
            <a:off x="7124548" y="3931920"/>
            <a:ext cx="1783080" cy="1691640"/>
          </a:xfrm>
          <a:prstGeom prst="rect">
            <a:avLst/>
          </a:prstGeom>
          <a:solidFill>
            <a:srgbClr val="26221D"/>
          </a:solidFill>
          <a:ln/>
        </p:spPr>
      </p:sp>
      <p:sp>
        <p:nvSpPr>
          <p:cNvPr id="41" name="Shape 30"/>
          <p:cNvSpPr/>
          <p:nvPr/>
        </p:nvSpPr>
        <p:spPr>
          <a:xfrm>
            <a:off x="7723480" y="4187952"/>
            <a:ext cx="585216" cy="585216"/>
          </a:xfrm>
          <a:prstGeom prst="ellipse">
            <a:avLst/>
          </a:prstGeom>
          <a:solidFill>
            <a:srgbClr val="3D2E27"/>
          </a:solidFill>
          <a:ln/>
        </p:spPr>
      </p:sp>
      <p:pic>
        <p:nvPicPr>
          <p:cNvPr id="4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05410" y="4269882"/>
            <a:ext cx="421356" cy="421356"/>
          </a:xfrm>
          <a:prstGeom prst="rect">
            <a:avLst/>
          </a:prstGeom>
        </p:spPr>
      </p:pic>
      <p:sp>
        <p:nvSpPr>
          <p:cNvPr id="43" name="Text 31"/>
          <p:cNvSpPr/>
          <p:nvPr/>
        </p:nvSpPr>
        <p:spPr>
          <a:xfrm>
            <a:off x="7197700" y="4919472"/>
            <a:ext cx="16367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EEE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 Twin</a:t>
            </a:r>
            <a:endParaRPr lang="en-US" sz="1050" dirty="0"/>
          </a:p>
        </p:txBody>
      </p:sp>
      <p:sp>
        <p:nvSpPr>
          <p:cNvPr id="44" name="Shape 32"/>
          <p:cNvSpPr/>
          <p:nvPr/>
        </p:nvSpPr>
        <p:spPr>
          <a:xfrm>
            <a:off x="9044788" y="3931920"/>
            <a:ext cx="1783080" cy="1691640"/>
          </a:xfrm>
          <a:prstGeom prst="rect">
            <a:avLst/>
          </a:prstGeom>
          <a:solidFill>
            <a:srgbClr val="26221D"/>
          </a:solidFill>
          <a:ln/>
        </p:spPr>
      </p:sp>
      <p:sp>
        <p:nvSpPr>
          <p:cNvPr id="45" name="Shape 33"/>
          <p:cNvSpPr/>
          <p:nvPr/>
        </p:nvSpPr>
        <p:spPr>
          <a:xfrm>
            <a:off x="9643720" y="4187952"/>
            <a:ext cx="585216" cy="585216"/>
          </a:xfrm>
          <a:prstGeom prst="ellipse">
            <a:avLst/>
          </a:prstGeom>
          <a:solidFill>
            <a:srgbClr val="3D2E27"/>
          </a:solidFill>
          <a:ln/>
        </p:spPr>
      </p:sp>
      <p:pic>
        <p:nvPicPr>
          <p:cNvPr id="4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725650" y="4269882"/>
            <a:ext cx="421356" cy="421356"/>
          </a:xfrm>
          <a:prstGeom prst="rect">
            <a:avLst/>
          </a:prstGeom>
        </p:spPr>
      </p:pic>
      <p:sp>
        <p:nvSpPr>
          <p:cNvPr id="47" name="Text 34"/>
          <p:cNvSpPr/>
          <p:nvPr/>
        </p:nvSpPr>
        <p:spPr>
          <a:xfrm>
            <a:off x="9117940" y="4919472"/>
            <a:ext cx="16367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EEE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Spectre</a:t>
            </a:r>
            <a:endParaRPr lang="en-US" sz="1050" dirty="0"/>
          </a:p>
        </p:txBody>
      </p:sp>
      <p:sp>
        <p:nvSpPr>
          <p:cNvPr id="48" name="Text 35"/>
          <p:cNvSpPr/>
          <p:nvPr/>
        </p:nvSpPr>
        <p:spPr>
          <a:xfrm>
            <a:off x="548640" y="59436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A8A2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+ TimescaleDB + MLflow — navigation temporelle par roulement, seuils entraînés, spectre réel annoté, cause probable sourcée, correction avec journalisation.</a:t>
            </a:r>
            <a:endParaRPr lang="en-US" sz="1250" dirty="0"/>
          </a:p>
        </p:txBody>
      </p:sp>
      <p:sp>
        <p:nvSpPr>
          <p:cNvPr id="49" name="Text 36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2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8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C7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EEB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Où en est le projet aujourd'hui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1064240" cy="960120"/>
          </a:xfrm>
          <a:prstGeom prst="rect">
            <a:avLst/>
          </a:prstGeom>
          <a:solidFill>
            <a:srgbClr val="26221D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318004"/>
            <a:ext cx="164592" cy="164592"/>
          </a:xfrm>
          <a:prstGeom prst="ellipse">
            <a:avLst/>
          </a:prstGeom>
          <a:solidFill>
            <a:srgbClr val="FFA726"/>
          </a:solidFill>
          <a:ln/>
        </p:spPr>
      </p:sp>
      <p:sp>
        <p:nvSpPr>
          <p:cNvPr id="6" name="Text 4"/>
          <p:cNvSpPr/>
          <p:nvPr/>
        </p:nvSpPr>
        <p:spPr>
          <a:xfrm>
            <a:off x="1234440" y="2011680"/>
            <a:ext cx="6309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EEB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3 — généralisation artificiel → réel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234440" y="2011680"/>
            <a:ext cx="6309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A8A2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Kurtogramme consensus corrigé (bug de bord STFT résolu) — validation sur 32 roulements en attente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869680" y="192024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100" kern="0" dirty="0">
                <a:solidFill>
                  <a:srgbClr val="FFA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COURS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3026664"/>
            <a:ext cx="11064240" cy="960120"/>
          </a:xfrm>
          <a:prstGeom prst="rect">
            <a:avLst/>
          </a:prstGeom>
          <a:solidFill>
            <a:srgbClr val="26221D"/>
          </a:solidFill>
          <a:ln/>
        </p:spPr>
      </p:sp>
      <p:sp>
        <p:nvSpPr>
          <p:cNvPr id="10" name="Shape 8"/>
          <p:cNvSpPr/>
          <p:nvPr/>
        </p:nvSpPr>
        <p:spPr>
          <a:xfrm>
            <a:off x="868680" y="3424428"/>
            <a:ext cx="164592" cy="164592"/>
          </a:xfrm>
          <a:prstGeom prst="ellipse">
            <a:avLst/>
          </a:prstGeom>
          <a:solidFill>
            <a:srgbClr val="66BB6A"/>
          </a:solidFill>
          <a:ln/>
        </p:spPr>
      </p:sp>
      <p:sp>
        <p:nvSpPr>
          <p:cNvPr id="11" name="Text 9"/>
          <p:cNvSpPr/>
          <p:nvPr/>
        </p:nvSpPr>
        <p:spPr>
          <a:xfrm>
            <a:off x="1234440" y="3118104"/>
            <a:ext cx="6309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EEB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CI/CD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1234440" y="3118104"/>
            <a:ext cx="6309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A8A2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— tests automatisés, Postgres réel, pipeline ML bout-en-bout vérifié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869680" y="3026664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100" kern="0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OPÉRATIONNEL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4133088"/>
            <a:ext cx="11064240" cy="960120"/>
          </a:xfrm>
          <a:prstGeom prst="rect">
            <a:avLst/>
          </a:prstGeom>
          <a:solidFill>
            <a:srgbClr val="26221D"/>
          </a:solidFill>
          <a:ln/>
        </p:spPr>
      </p:sp>
      <p:sp>
        <p:nvSpPr>
          <p:cNvPr id="15" name="Shape 13"/>
          <p:cNvSpPr/>
          <p:nvPr/>
        </p:nvSpPr>
        <p:spPr>
          <a:xfrm>
            <a:off x="868680" y="4530852"/>
            <a:ext cx="164592" cy="164592"/>
          </a:xfrm>
          <a:prstGeom prst="ellipse">
            <a:avLst/>
          </a:prstGeom>
          <a:solidFill>
            <a:srgbClr val="66BB6A"/>
          </a:solidFill>
          <a:ln/>
        </p:spPr>
      </p:sp>
      <p:sp>
        <p:nvSpPr>
          <p:cNvPr id="16" name="Text 14"/>
          <p:cNvSpPr/>
          <p:nvPr/>
        </p:nvSpPr>
        <p:spPr>
          <a:xfrm>
            <a:off x="1234440" y="4224528"/>
            <a:ext cx="6309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EEB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Détection de valeurs impossibles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234440" y="4224528"/>
            <a:ext cx="6309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A8A2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Bornes mathématiques vérifiées (crest factor, kurtosis) — 0 violation sur 30 708 features réelles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869680" y="4133088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100" kern="0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5239512"/>
            <a:ext cx="11064240" cy="960120"/>
          </a:xfrm>
          <a:prstGeom prst="rect">
            <a:avLst/>
          </a:prstGeom>
          <a:solidFill>
            <a:srgbClr val="26221D"/>
          </a:solidFill>
          <a:ln/>
        </p:spPr>
      </p:sp>
      <p:sp>
        <p:nvSpPr>
          <p:cNvPr id="20" name="Shape 18"/>
          <p:cNvSpPr/>
          <p:nvPr/>
        </p:nvSpPr>
        <p:spPr>
          <a:xfrm>
            <a:off x="868680" y="5637276"/>
            <a:ext cx="164592" cy="164592"/>
          </a:xfrm>
          <a:prstGeom prst="ellipse">
            <a:avLst/>
          </a:prstGeom>
          <a:solidFill>
            <a:srgbClr val="66BB6A"/>
          </a:solidFill>
          <a:ln/>
        </p:spPr>
      </p:sp>
      <p:sp>
        <p:nvSpPr>
          <p:cNvPr id="21" name="Text 19"/>
          <p:cNvSpPr/>
          <p:nvPr/>
        </p:nvSpPr>
        <p:spPr>
          <a:xfrm>
            <a:off x="1234440" y="5330952"/>
            <a:ext cx="6309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EEB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Base de connaissance diagnostic réducteurs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1234440" y="5330952"/>
            <a:ext cx="6309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A8A2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Détérioration de dent, manque de lubrification — sourcé, lié au code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869680" y="5239512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100" kern="0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2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8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C7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FEUILLE DE ROUTE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EEB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suite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11064240" cy="932688"/>
          </a:xfrm>
          <a:prstGeom prst="rect">
            <a:avLst/>
          </a:prstGeom>
          <a:solidFill>
            <a:srgbClr val="26221D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965960"/>
            <a:ext cx="10058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C78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828800" y="2084832"/>
            <a:ext cx="3931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EEB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Terminer Phase 3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852160" y="2084832"/>
            <a:ext cx="54864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A8A2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résultat principal du projet — écart artificiel → réel, chiffré et expliqué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081528"/>
            <a:ext cx="11064240" cy="932688"/>
          </a:xfrm>
          <a:prstGeom prst="rect">
            <a:avLst/>
          </a:prstGeom>
          <a:solidFill>
            <a:srgbClr val="26221D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3081528"/>
            <a:ext cx="10058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C78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1828800" y="3200400"/>
            <a:ext cx="3931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EEB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Restitution honnête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852160" y="3200400"/>
            <a:ext cx="54864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A8A2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compris ce qui n'a pas marché — figures annotées, matrices de confusion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197096"/>
            <a:ext cx="11064240" cy="932688"/>
          </a:xfrm>
          <a:prstGeom prst="rect">
            <a:avLst/>
          </a:prstGeom>
          <a:solidFill>
            <a:srgbClr val="26221D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4197096"/>
            <a:ext cx="10058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C78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1828800" y="4315968"/>
            <a:ext cx="3931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EEB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Publication du dataset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852160" y="4315968"/>
            <a:ext cx="54864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A8A2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 Face — parquet, dataset card, géométrie des roulements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5312664"/>
            <a:ext cx="11064240" cy="932688"/>
          </a:xfrm>
          <a:prstGeom prst="rect">
            <a:avLst/>
          </a:prstGeom>
          <a:solidFill>
            <a:srgbClr val="26221D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5312664"/>
            <a:ext cx="10058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C78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1828800" y="5431536"/>
            <a:ext cx="3931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EEB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Trajectoire d'interopérabilité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852160" y="5431536"/>
            <a:ext cx="54864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A8A2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Au-delà du portfolio — OPC-UA, MQTT, AAS — conditionné à un déclencheur réel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2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8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5486400" cy="5486400"/>
          </a:xfrm>
          <a:prstGeom prst="ellipse">
            <a:avLst/>
          </a:prstGeom>
          <a:solidFill>
            <a:srgbClr val="26221D"/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4114800"/>
            <a:ext cx="4114800" cy="4114800"/>
          </a:xfrm>
          <a:prstGeom prst="ellipse">
            <a:avLst/>
          </a:prstGeom>
          <a:solidFill>
            <a:srgbClr val="CC785C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28600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EEB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Merci.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731520" y="342900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i="1" dirty="0">
                <a:solidFill>
                  <a:srgbClr val="A8A2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score élevé sur un dataset archi-connu n'intéresse plus personne — l'écart mesuré, expliqué et assumé, si.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4709160"/>
            <a:ext cx="411480" cy="411480"/>
          </a:xfrm>
          <a:prstGeom prst="ellipse">
            <a:avLst/>
          </a:prstGeom>
          <a:solidFill>
            <a:srgbClr val="26221D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9127" y="4766767"/>
            <a:ext cx="296266" cy="29626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0160" y="47091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EE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patrice.noel.duclos@gmail.com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31520" y="5303520"/>
            <a:ext cx="411480" cy="411480"/>
          </a:xfrm>
          <a:prstGeom prst="ellipse">
            <a:avLst/>
          </a:prstGeom>
          <a:solidFill>
            <a:srgbClr val="26221D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127" y="5361127"/>
            <a:ext cx="296266" cy="29626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80160" y="53035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EE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github.com/PDUCLOS/MLindustrial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Analyse vibratoire &amp; maintenance predictive</dc:title>
  <dc:subject>PptxGenJS Presentation</dc:subject>
  <dc:creator>Patrice Duclos</dc:creator>
  <cp:lastModifiedBy>Patrice Duclos</cp:lastModifiedBy>
  <cp:revision>1</cp:revision>
  <dcterms:created xsi:type="dcterms:W3CDTF">2026-09-02T09:31:17Z</dcterms:created>
  <dcterms:modified xsi:type="dcterms:W3CDTF">2026-09-02T09:31:17Z</dcterms:modified>
</cp:coreProperties>
</file>